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0B0B0B"/>
                </a:solidFill>
                <a:latin typeface="Microsoft YaHei"/>
                <a:ea typeface="Microsoft YaHei"/>
              </a:rPr>
              <a:t>AI 辅助漏洞验证的知识库：特点与作用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658368"/>
            <a:ext cx="5577840" cy="512064"/>
          </a:xfrm>
          <a:prstGeom prst="roundRect">
            <a:avLst>
              <a:gd name="adj" fmla="val 12000"/>
            </a:avLst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04088"/>
            <a:ext cx="52120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52514E"/>
                </a:solidFill>
                <a:latin typeface="Microsoft YaHei"/>
                <a:ea typeface="Microsoft YaHei"/>
              </a:rPr>
              <a:t>✗ 传统问答知识库：回答「产品包含哪些模块」—— 结构盘点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898781"/>
                </a:solidFill>
                <a:latin typeface="Microsoft YaHei"/>
                <a:ea typeface="Microsoft YaHei"/>
              </a:rPr>
              <a:t>段落 · 静态 · 问题驱动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53912" y="658368"/>
            <a:ext cx="5577840" cy="512064"/>
          </a:xfrm>
          <a:prstGeom prst="roundRect">
            <a:avLst>
              <a:gd name="adj" fmla="val 12000"/>
            </a:avLst>
          </a:prstGeom>
          <a:solidFill>
            <a:srgbClr val="E8F3EA"/>
          </a:solidFill>
          <a:ln w="12700">
            <a:solidFill>
              <a:srgbClr val="008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704088"/>
            <a:ext cx="52120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0B0B0B"/>
                </a:solidFill>
                <a:latin typeface="Microsoft YaHei"/>
                <a:ea typeface="Microsoft YaHei"/>
              </a:rPr>
              <a:t>✓ 本方案：回答「模块的通信与安全机制、面对哪些威胁」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52514E"/>
                </a:solidFill>
                <a:latin typeface="Microsoft YaHei"/>
                <a:ea typeface="Microsoft YaHei"/>
              </a:rPr>
              <a:t>字段化知识点 · 只供知识，推断归 Agent · 验证回写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98448"/>
            <a:ext cx="3685032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3685032" cy="3657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325880"/>
            <a:ext cx="3429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① 场景构建 · 发散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737360"/>
            <a:ext cx="33924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A78D6"/>
                </a:solidFill>
                <a:latin typeface="Microsoft YaHei"/>
                <a:ea typeface="Microsoft YaHei"/>
              </a:rPr>
              <a:t>提供 —— 关键知识点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956815"/>
            <a:ext cx="339242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</a:rPr>
              <a:t>• 场景点：用户行为的完整路径——入口（从哪进）、组件链（经过哪些模块）、数据流（落到哪）、信任变化（信任怎么变）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</a:rPr>
              <a:t>• 威胁点：攻击目标的可选项——目标层级、所需能力、失败降级备选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</a:rPr>
              <a:t>• 经验模式：利用条件——前提（版本/鉴权/可达性）+ 探测方法 + 溯源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</a:rPr>
              <a:t>• 案例库：同类产品案例，按当前版本过滤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62656"/>
            <a:ext cx="3465576" cy="10972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3035808"/>
            <a:ext cx="32095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2A78D6"/>
                </a:solidFill>
                <a:latin typeface="Microsoft YaHei"/>
                <a:ea typeface="Microsoft YaHei"/>
              </a:rPr>
              <a:t>作用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无需二次提炼：直接消费前提与探测字段，少一轮失真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提前过滤：前提不符（版本/不可达）不进候选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直接可用：带步骤与预期，直接进路径规划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4169664"/>
            <a:ext cx="3392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A78D6"/>
                </a:solidFill>
                <a:latin typeface="Microsoft YaHei"/>
                <a:ea typeface="Microsoft YaHei"/>
              </a:rPr>
              <a:t>输出：</a:t>
            </a: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</a:rPr>
              <a:t>AttackScenario 候选集（Agent 筛选与排序）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298448"/>
            <a:ext cx="3685032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298448"/>
            <a:ext cx="3685032" cy="3657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1325880"/>
            <a:ext cx="3429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② 路径规划 · 收敛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1737360"/>
            <a:ext cx="33924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BAF7A"/>
                </a:solidFill>
                <a:latin typeface="Microsoft YaHei"/>
                <a:ea typeface="Microsoft YaHei"/>
              </a:rPr>
              <a:t>提供 —— 关键知识点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1956815"/>
            <a:ext cx="339242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</a:rPr>
              <a:t>• 机制点：模块的实现真相——通信机制（协议/调用方式/数据流向）+ 安全机制（鉴权/校验/防护），回答「怎么走、哪里有防护」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</a:rPr>
              <a:t>• 历史问题：路径相关模块出过的问题与验证记录——哪些坑被踩过、结果如何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</a:rPr>
              <a:t>• 关联召回：知识点间 wikilink 关联，多跳路径的中间机制点不漏召回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2962656"/>
            <a:ext cx="3465576" cy="1097280"/>
          </a:xfrm>
          <a:prstGeom prst="roundRect">
            <a:avLst>
              <a:gd name="adj" fmla="val 6000"/>
            </a:avLst>
          </a:prstGeom>
          <a:solidFill>
            <a:srgbClr val="E6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9704" y="3035808"/>
            <a:ext cx="32095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1BAF7A"/>
                </a:solidFill>
                <a:latin typeface="Microsoft YaHei"/>
                <a:ea typeface="Microsoft YaHei"/>
              </a:rPr>
              <a:t>作用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机制点不漏：Agent 拿全所需的点再组织路径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历史提示：据历史问题评估路径可行性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证据后置：由第③步实测验证得出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4169664"/>
            <a:ext cx="3392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BAF7A"/>
                </a:solidFill>
                <a:latin typeface="Microsoft YaHei"/>
                <a:ea typeface="Microsoft YaHei"/>
              </a:rPr>
              <a:t>输出：</a:t>
            </a: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</a:rPr>
              <a:t>机制点集 + 来源标注（路径推断由 Agent 完成）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298448"/>
            <a:ext cx="3685032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298448"/>
            <a:ext cx="3685032" cy="36576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1325880"/>
            <a:ext cx="3429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③ POC 生成与验证 · 执行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1737360"/>
            <a:ext cx="33924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A3AA7"/>
                </a:solidFill>
                <a:latin typeface="Microsoft YaHei"/>
                <a:ea typeface="Microsoft YaHei"/>
              </a:rPr>
              <a:t>提供 —— 关键知识点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1956815"/>
            <a:ext cx="339242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</a:rPr>
              <a:t>• 历史 POC：验证过的可复用骨架——占位符 + 请求模板 + 验证断言，实例化即用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</a:rPr>
              <a:t>• 历史结果：本产品实测记录——哪个 payload 被拦、哪个绕过成功、哪个是误报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</a:rPr>
              <a:t>• 状态字段：每条知识带验证状态——成功加权复用 / 拦截成负知识 / 误报修正前提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6448" y="2962656"/>
            <a:ext cx="3465576" cy="1097280"/>
          </a:xfrm>
          <a:prstGeom prst="roundRect">
            <a:avLst>
              <a:gd name="adj" fmla="val 6000"/>
            </a:avLst>
          </a:prstGeom>
          <a:solidFill>
            <a:srgbClr val="EC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3035808"/>
            <a:ext cx="32095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4A3AA7"/>
                </a:solidFill>
                <a:latin typeface="Microsoft YaHei"/>
                <a:ea typeface="Microsoft YaHei"/>
              </a:rPr>
              <a:t>作用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不从零试：站在历史 POC 上实例化，不重复撞墙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复利变准：验证回写 → 状态流转 → 检索重排序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4" y="4169664"/>
            <a:ext cx="3392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A3AA7"/>
                </a:solidFill>
                <a:latin typeface="Microsoft YaHei"/>
                <a:ea typeface="Microsoft YaHei"/>
              </a:rPr>
              <a:t>输出：</a:t>
            </a: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</a:rPr>
              <a:t>历史 POC 模板 + 验证记录（执行与判定归 Agent）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974336"/>
            <a:ext cx="1127455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974336"/>
            <a:ext cx="112745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A3AA7"/>
                </a:solidFill>
                <a:latin typeface="Microsoft YaHei"/>
                <a:ea typeface="Microsoft YaHei"/>
              </a:rPr>
              <a:t>知识点长这样「经验模式 · ImageTragick」：</a:t>
            </a: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前提 = convert &lt; 6.9.3-9 ｜ 探测 = mvg payload ｜ 状态 = verified_success（被拦 → msl 绕过）｜ 溯源 = CVE-2016-3714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31536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98781"/>
                </a:solidFill>
                <a:latin typeface="Microsoft YaHei"/>
                <a:ea typeface="Microsoft YaHei"/>
              </a:rPr>
              <a:t>知识库的特点（八条）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650992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650992"/>
            <a:ext cx="64008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" y="5678424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B0B0B"/>
                </a:solidFill>
                <a:latin typeface="Microsoft YaHei"/>
                <a:ea typeface="Microsoft YaHei"/>
              </a:rPr>
              <a:t>可执行性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" y="5897879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898781"/>
                </a:solidFill>
                <a:latin typeface="Microsoft YaHei"/>
                <a:ea typeface="Microsoft YaHei"/>
              </a:rPr>
              <a:t>知识带步骤与工具参数，Agent 直接消费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00984" y="5650992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00984" y="5650992"/>
            <a:ext cx="64008" cy="5029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5678424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B0B0B"/>
                </a:solidFill>
                <a:latin typeface="Microsoft YaHei"/>
                <a:ea typeface="Microsoft YaHei"/>
              </a:rPr>
              <a:t>条件化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5897879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898781"/>
                </a:solidFill>
                <a:latin typeface="Microsoft YaHei"/>
                <a:ea typeface="Microsoft YaHei"/>
              </a:rPr>
              <a:t>每条带前提（版本/鉴权/可达），不符不召回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44768" y="5650992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44768" y="5650992"/>
            <a:ext cx="64008" cy="5029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2783" y="5678424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B0B0B"/>
                </a:solidFill>
                <a:latin typeface="Microsoft YaHei"/>
                <a:ea typeface="Microsoft YaHei"/>
              </a:rPr>
              <a:t>验证状态机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2783" y="5897879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898781"/>
                </a:solidFill>
                <a:latin typeface="Microsoft YaHei"/>
                <a:ea typeface="Microsoft YaHei"/>
              </a:rPr>
              <a:t>成功加权 · 拦截负知识 · 误报修正前提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88552" y="5650992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88552" y="5650992"/>
            <a:ext cx="64008" cy="502920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16568" y="5678424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B0B0B"/>
                </a:solidFill>
                <a:latin typeface="Microsoft YaHei"/>
                <a:ea typeface="Microsoft YaHei"/>
              </a:rPr>
              <a:t>失败知识入库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16568" y="5897879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898781"/>
                </a:solidFill>
                <a:latin typeface="Microsoft YaHei"/>
                <a:ea typeface="Microsoft YaHei"/>
              </a:rPr>
              <a:t>拦截特征与误报记录，防重复撞墙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6199631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6199631"/>
            <a:ext cx="64008" cy="5029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6" y="6227064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B0B0B"/>
                </a:solidFill>
                <a:latin typeface="Microsoft YaHei"/>
                <a:ea typeface="Microsoft YaHei"/>
              </a:rPr>
              <a:t>经验复利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" y="6446519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898781"/>
                </a:solidFill>
                <a:latin typeface="Microsoft YaHei"/>
                <a:ea typeface="Microsoft YaHei"/>
              </a:rPr>
              <a:t>验证回写，知识随实测越用越准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00984" y="6199631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00984" y="6199631"/>
            <a:ext cx="64008" cy="5029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29000" y="6227064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B0B0B"/>
                </a:solidFill>
                <a:latin typeface="Microsoft YaHei"/>
                <a:ea typeface="Microsoft YaHei"/>
              </a:rPr>
              <a:t>目标坐标系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29000" y="6446519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898781"/>
                </a:solidFill>
                <a:latin typeface="Microsoft YaHei"/>
                <a:ea typeface="Microsoft YaHei"/>
              </a:rPr>
              <a:t>目标层级 + 降级链，支持动态调整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4768" y="6199631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44768" y="6199631"/>
            <a:ext cx="64008" cy="50292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72783" y="6227064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B0B0B"/>
                </a:solidFill>
                <a:latin typeface="Microsoft YaHei"/>
                <a:ea typeface="Microsoft YaHei"/>
              </a:rPr>
              <a:t>召回保证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72783" y="6446519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898781"/>
                </a:solidFill>
                <a:latin typeface="Microsoft YaHei"/>
                <a:ea typeface="Microsoft YaHei"/>
              </a:rPr>
              <a:t>关联结构使多跳路径中间点不漏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88552" y="6199631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988552" y="6199631"/>
            <a:ext cx="64008" cy="502920"/>
          </a:xfrm>
          <a:prstGeom prst="rect">
            <a:avLst/>
          </a:prstGeom>
          <a:solidFill>
            <a:srgbClr val="EC8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16568" y="6227064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B0B0B"/>
                </a:solidFill>
                <a:latin typeface="Microsoft YaHei"/>
                <a:ea typeface="Microsoft YaHei"/>
              </a:rPr>
              <a:t>版本敏感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16568" y="6446519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898781"/>
                </a:solidFill>
                <a:latin typeface="Microsoft YaHei"/>
                <a:ea typeface="Microsoft YaHei"/>
              </a:rPr>
              <a:t>知识按产品版本分叉与过滤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112745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0B0B0B"/>
                </a:solidFill>
                <a:latin typeface="Microsoft YaHei"/>
                <a:ea typeface="Microsoft YaHei"/>
              </a:rPr>
              <a:t>知识库架构：双引擎供给 · MCP 出口 · 验证回写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274552" cy="50292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52514E"/>
                </a:solidFill>
                <a:latin typeface="Microsoft YaHei"/>
                <a:ea typeface="Microsoft YaHei"/>
              </a:rPr>
              <a:t>知识来源：产品文档 · API 规范 · 源代码 · 漏洞案例 · 历史验证报告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5486400" cy="3657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655064"/>
            <a:ext cx="5212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llm_wiki · 叙述层（知识库主体）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10312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2514E"/>
                </a:solidFill>
                <a:latin typeface="Microsoft YaHei"/>
                <a:ea typeface="Microsoft YaHei"/>
              </a:rPr>
              <a:t>• 页面目录：场景 / 威胁 / 经验 / 历史 POC / 验证记录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2514E"/>
                </a:solidFill>
                <a:latin typeface="Microsoft YaHei"/>
                <a:ea typeface="Microsoft YaHei"/>
              </a:rPr>
              <a:t>• 检索：关键词 + 向量 + 一跳图（混合召回）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2514E"/>
                </a:solidFill>
                <a:latin typeface="Microsoft YaHei"/>
                <a:ea typeface="Microsoft YaHei"/>
              </a:rPr>
              <a:t>• 演化：验证结果回写 → 状态流转 → 检索加权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27632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627632"/>
            <a:ext cx="5486400" cy="3657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655064"/>
            <a:ext cx="5212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LightRAG · 实体层（v1 可选 · 召回增强）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2103120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2514E"/>
                </a:solidFill>
                <a:latin typeface="Microsoft YaHei"/>
                <a:ea typeface="Microsoft YaHei"/>
              </a:rPr>
              <a:t>• 实体类型：端点 / 服务 / 参数 / 目标 / 能力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2514E"/>
                </a:solidFill>
                <a:latin typeface="Microsoft YaHei"/>
                <a:ea typeface="Microsoft YaHei"/>
              </a:rPr>
              <a:t>• 知识点增多后出现多跳漏召回时按需引入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2514E"/>
                </a:solidFill>
                <a:latin typeface="Microsoft YaHei"/>
                <a:ea typeface="Microsoft YaHei"/>
              </a:rPr>
              <a:t>• 只做召回增强，不做路径组织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697480" y="1435608"/>
            <a:ext cx="164592" cy="173736"/>
          </a:xfrm>
          <a:prstGeom prst="down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8942832" y="1435608"/>
            <a:ext cx="164592" cy="173736"/>
          </a:xfrm>
          <a:prstGeom prst="down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218688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73552"/>
            <a:ext cx="112745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0B0B0B"/>
                </a:solidFill>
                <a:latin typeface="Microsoft YaHei"/>
                <a:ea typeface="Microsoft YaHei"/>
              </a:rPr>
              <a:t>知识出口 MCP（工具面按步骤切片）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52514E"/>
                </a:solidFill>
                <a:latin typeface="Microsoft YaHei"/>
                <a:ea typeface="Microsoft YaHei"/>
              </a:rPr>
              <a:t>kb_scenario 场景候选 · kb_goal 目标与降级备选 · kb_poc 历史 POC · kb_search 兜底检索 · kb_record_verification 验证回写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54680" y="3017520"/>
            <a:ext cx="164592" cy="182880"/>
          </a:xfrm>
          <a:prstGeom prst="downArrow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8942832" y="3017520"/>
            <a:ext cx="164592" cy="182880"/>
          </a:xfrm>
          <a:prstGeom prst="downArrow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4224528"/>
            <a:ext cx="350215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29768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B0B0B"/>
                </a:solidFill>
                <a:latin typeface="Microsoft YaHei"/>
                <a:ea typeface="Microsoft YaHei"/>
              </a:rPr>
              <a:t>① 场景构建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898781"/>
                </a:solidFill>
                <a:latin typeface="Microsoft YaHei"/>
                <a:ea typeface="Microsoft YaHei"/>
              </a:rPr>
              <a:t>供场景点 · 威胁点 · 经验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224528"/>
            <a:ext cx="350215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429768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B0B0B"/>
                </a:solidFill>
                <a:latin typeface="Microsoft YaHei"/>
                <a:ea typeface="Microsoft YaHei"/>
              </a:rPr>
              <a:t>② 路径规划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898781"/>
                </a:solidFill>
                <a:latin typeface="Microsoft YaHei"/>
                <a:ea typeface="Microsoft YaHei"/>
              </a:rPr>
              <a:t>供机制点 · 历史问题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224528"/>
            <a:ext cx="350215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429768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B0B0B"/>
                </a:solidFill>
                <a:latin typeface="Microsoft YaHei"/>
                <a:ea typeface="Microsoft YaHei"/>
              </a:rPr>
              <a:t>③ POC 生成 + 实测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898781"/>
                </a:solidFill>
                <a:latin typeface="Microsoft YaHei"/>
                <a:ea typeface="Microsoft YaHei"/>
              </a:rPr>
              <a:t>供历史 POC · 验证记录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157984" y="4014215"/>
            <a:ext cx="164592" cy="182880"/>
          </a:xfrm>
          <a:prstGeom prst="downArrow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6053328" y="4014215"/>
            <a:ext cx="164592" cy="182880"/>
          </a:xfrm>
          <a:prstGeom prst="downArrow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9948672" y="4014215"/>
            <a:ext cx="164592" cy="182880"/>
          </a:xfrm>
          <a:prstGeom prst="downArrow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3986784" y="4626864"/>
            <a:ext cx="329184" cy="201168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7872983" y="4626864"/>
            <a:ext cx="329184" cy="201168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5413248"/>
            <a:ext cx="11274552" cy="713232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 w="12700">
            <a:solidFill>
              <a:srgbClr val="008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86400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0B0B0B"/>
                </a:solidFill>
                <a:latin typeface="Microsoft YaHei"/>
                <a:ea typeface="Microsoft YaHei"/>
              </a:rPr>
              <a:t>验证回写：Agent 实测执行 → 结果回写 → 状态流转（成功加权 / 拦截负知识 / 误报修正）→ 检索重排序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实测执行与证据获得归 Agent · 状态维护与检索加权归 KB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9948672" y="5111496"/>
            <a:ext cx="164592" cy="283464"/>
          </a:xfrm>
          <a:prstGeom prst="down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1005840" y="2999232"/>
            <a:ext cx="0" cy="2414016"/>
          </a:xfrm>
          <a:prstGeom prst="bentConnector3">
            <a:avLst/>
          </a:prstGeom>
          <a:ln w="19050">
            <a:solidFill>
              <a:srgbClr val="008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404164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98781"/>
                </a:solidFill>
                <a:latin typeface="Microsoft YaHei"/>
                <a:ea typeface="Microsoft YaHei"/>
              </a:rPr>
              <a:t>验证结果回写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6492240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98781"/>
                </a:solidFill>
                <a:latin typeface="Microsoft YaHei"/>
                <a:ea typeface="Microsoft YaHei"/>
              </a:rPr>
              <a:t>设计稿 v1.4 · 单引擎 llm_wiki 起步 + 可选 LightRAG 召回增强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112745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0B0B0B"/>
                </a:solidFill>
                <a:latin typeface="Microsoft YaHei"/>
                <a:ea typeface="Microsoft YaHei"/>
              </a:rPr>
              <a:t>为什么需要专门的知识库（而非通用问答库）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21031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96695"/>
            <a:ext cx="1737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2A78D6"/>
                </a:solidFill>
                <a:latin typeface="Microsoft YaHei"/>
                <a:ea typeface="Microsoft YaHei"/>
              </a:rPr>
              <a:t>①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B0B0B"/>
                </a:solidFill>
                <a:latin typeface="Microsoft YaHei"/>
                <a:ea typeface="Microsoft YaHei"/>
              </a:rPr>
              <a:t>回答的问题不同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898781"/>
                </a:solidFill>
                <a:latin typeface="Microsoft YaHei"/>
                <a:ea typeface="Microsoft YaHei"/>
              </a:rPr>
              <a:t>结构盘点 vs 机制与威胁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868680"/>
            <a:ext cx="4480560" cy="1481328"/>
          </a:xfrm>
          <a:prstGeom prst="roundRect">
            <a:avLst>
              <a:gd name="adj" fmla="val 8000"/>
            </a:avLst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62072" y="978407"/>
            <a:ext cx="4160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98781"/>
                </a:solidFill>
                <a:latin typeface="Microsoft YaHei"/>
                <a:ea typeface="Microsoft YaHei"/>
              </a:rPr>
              <a:t>传统问答知识库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回答「产品包含哪些模块」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模块清单 · 职责描述 · 接口列表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作者视角的结构描述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868680"/>
            <a:ext cx="4416552" cy="1481328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 w="12700">
            <a:solidFill>
              <a:srgbClr val="008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9792" y="978407"/>
            <a:ext cx="4114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008300"/>
                </a:solidFill>
                <a:latin typeface="Microsoft YaHei"/>
                <a:ea typeface="Microsoft YaHei"/>
              </a:rPr>
              <a:t>本方案攻击知识库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回答「模块怎么通信、有什么安全机制、面对哪些威胁」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通信机制 + 安全机制 + 威胁（三问定级）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攻击者视角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14600"/>
            <a:ext cx="21031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642616"/>
            <a:ext cx="1737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4A3AA7"/>
                </a:solidFill>
                <a:latin typeface="Microsoft YaHei"/>
                <a:ea typeface="Microsoft YaHei"/>
              </a:rPr>
              <a:t>②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B0B0B"/>
                </a:solidFill>
                <a:latin typeface="Microsoft YaHei"/>
                <a:ea typeface="Microsoft YaHei"/>
              </a:rPr>
              <a:t>知识形态不同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898781"/>
                </a:solidFill>
                <a:latin typeface="Microsoft YaHei"/>
                <a:ea typeface="Microsoft YaHei"/>
              </a:rPr>
              <a:t>段落 vs 字段化知识点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514600"/>
            <a:ext cx="4480560" cy="1481328"/>
          </a:xfrm>
          <a:prstGeom prst="roundRect">
            <a:avLst>
              <a:gd name="adj" fmla="val 8000"/>
            </a:avLst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2624328"/>
            <a:ext cx="4160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98781"/>
                </a:solidFill>
                <a:latin typeface="Microsoft YaHei"/>
                <a:ea typeface="Microsoft YaHei"/>
              </a:rPr>
              <a:t>传统问答知识库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返回段落：案例文本 · 模式描述 · POC 文本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Agent 使用前须自行二次提炼前提与探测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二次提炼 = 又一轮 LLM 转化，会错会漏会失真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514600"/>
            <a:ext cx="4416552" cy="1481328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 w="12700">
            <a:solidFill>
              <a:srgbClr val="008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624328"/>
            <a:ext cx="4114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008300"/>
                </a:solidFill>
                <a:latin typeface="Microsoft YaHei"/>
                <a:ea typeface="Microsoft YaHei"/>
              </a:rPr>
              <a:t>本方案攻击知识库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字段化知识点：前提 / 探测 / 验证状态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提炼在入库时一次完成：专家预编译 + 人工审核 + 实测修正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Agent 直接消费字段，跳过二次提炼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60520"/>
            <a:ext cx="21031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288536"/>
            <a:ext cx="1737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1BAF7A"/>
                </a:solidFill>
                <a:latin typeface="Microsoft YaHei"/>
                <a:ea typeface="Microsoft YaHei"/>
              </a:rPr>
              <a:t>③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B0B0B"/>
                </a:solidFill>
                <a:latin typeface="Microsoft YaHei"/>
                <a:ea typeface="Microsoft YaHei"/>
              </a:rPr>
              <a:t>实验反馈源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898781"/>
                </a:solidFill>
                <a:latin typeface="Microsoft YaHei"/>
                <a:ea typeface="Microsoft YaHei"/>
              </a:rPr>
              <a:t>无闭环 vs 验证回写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4160520"/>
            <a:ext cx="4480560" cy="1481328"/>
          </a:xfrm>
          <a:prstGeom prst="roundRect">
            <a:avLst>
              <a:gd name="adj" fmla="val 8000"/>
            </a:avLst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62072" y="4270248"/>
            <a:ext cx="4160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98781"/>
                </a:solidFill>
                <a:latin typeface="Microsoft YaHei"/>
                <a:ea typeface="Microsoft YaHei"/>
              </a:rPr>
              <a:t>传统问答知识库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知识从新文档演化，无实验反馈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「可能注入」永远是「可能」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160520"/>
            <a:ext cx="4416552" cy="1481328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 w="12700">
            <a:solidFill>
              <a:srgbClr val="008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4270248"/>
            <a:ext cx="4114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008300"/>
                </a:solidFill>
                <a:latin typeface="Microsoft YaHei"/>
                <a:ea typeface="Microsoft YaHei"/>
              </a:rPr>
              <a:t>本方案攻击知识库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验证回写闭环：成功加权 · 拦截成负知识 · 误报修正前提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52514E"/>
                </a:solidFill>
                <a:latin typeface="Microsoft YaHei"/>
                <a:ea typeface="Microsoft YaHei"/>
              </a:rPr>
              <a:t>• 知识随验证次数复利变准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B0B0B"/>
                </a:solidFill>
                <a:latin typeface="Microsoft YaHei"/>
                <a:ea typeface="Microsoft YaHei"/>
              </a:rPr>
              <a:t>共同根源：攻击验证的消费动作是「行动」，通用问答库的消费动作是「回答」—— 知识库必须按消费动作设计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